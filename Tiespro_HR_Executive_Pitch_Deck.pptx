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Relative access</c:v>
                </c:pt>
              </c:strCache>
            </c:strRef>
          </c:tx>
          <c:spPr>
            <a:solidFill>
              <a:srgbClr val="C9A84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Yr 1</c:v>
                  </c:pt>
                  <c:pt idx="1">
                    <c:v>Yr 2</c:v>
                  </c:pt>
                  <c:pt idx="2">
                    <c:v>Yr 3</c:v>
                  </c:pt>
                  <c:pt idx="3">
                    <c:v>Yr 4</c:v>
                  </c:pt>
                  <c:pt idx="4">
                    <c:v>Yr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82</c:v>
                </c:pt>
                <c:pt idx="2">
                  <c:v>68</c:v>
                </c:pt>
                <c:pt idx="3">
                  <c:v>55</c:v>
                </c:pt>
                <c:pt idx="4">
                  <c:v>44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99BB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D9D9D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99BB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D9D9D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F3864"/>
        </a:solidFill>
        <a:ln>
          <a:noFill/>
        </a:ln>
        <a:effectLst/>
      </c:spPr>
    </c:plotArea>
    <c:plotVisOnly val="1"/>
    <c:dispBlanksAs val="span"/>
  </c:chart>
  <c:spPr>
    <a:solidFill>
      <a:srgbClr val="1F3864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 (R)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386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Section 12H
tax deduction</c:v>
                  </c:pt>
                  <c:pt idx="1">
                    <c:v>Tax saving
@ 27%</c:v>
                  </c:pt>
                  <c:pt idx="2">
                    <c:v>ETI (Year 1,
15 absorbed)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1600000</c:v>
                </c:pt>
                <c:pt idx="1">
                  <c:v>432000</c:v>
                </c:pt>
                <c:pt idx="2">
                  <c:v>450000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386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.xm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011680"/>
            <a:ext cx="5486400" cy="5486400"/>
          </a:xfrm>
          <a:prstGeom prst="ellipse">
            <a:avLst/>
          </a:prstGeom>
          <a:solidFill>
            <a:srgbClr val="162A4A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162A4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6400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TIESPRO TRAINING INSTITUTE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as a Tax-Reduction &amp;</a:t>
            </a:r>
            <a:endParaRPr lang="en-US" sz="4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Youth Employment Strategy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39776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D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hybrid positioning for HR &amp; Training Executives — redirecting a compulsory training spend into tax savings, a qualified talent pipeline, and a stronger B-BBEE scorecard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5074920"/>
            <a:ext cx="274320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TETA Accreditation 06-157  |  Praeto Group Holdings  |  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SETA grant funding has dried up — but your training spend hasn't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years, growth was built on chasing discretionary SETA grants. That pool has shrunk, become more competitive, and pays out slower — while the compulsory 1% Skills Development Levy keeps flowing regardless.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5760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F3864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136392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92608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Discretionary grants: smaller, slower, competitive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3950208"/>
            <a:ext cx="5760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F3864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16052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3950208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grant reclaim: only 20% of levy, compliance-heavy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548640" y="4974336"/>
            <a:ext cx="57607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F3864">
                <a:alpha val="12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184648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4974336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Meanwhile: driver, clerk &amp; handler turnover keeps rising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6675120" y="1234440"/>
            <a:ext cx="4937760" cy="5029200"/>
          </a:xfrm>
          <a:prstGeom prst="roundRect">
            <a:avLst>
              <a:gd name="adj" fmla="val 1481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27000" dist="38100" dir="5400000">
              <a:srgbClr val="1F3864">
                <a:alpha val="12000"/>
              </a:srgbClr>
            </a:outerShdw>
          </a:effectLst>
        </p:spPr>
      </p:sp>
      <p:sp>
        <p:nvSpPr>
          <p:cNvPr id="15" name="Text 10"/>
          <p:cNvSpPr/>
          <p:nvPr/>
        </p:nvSpPr>
        <p:spPr>
          <a:xfrm>
            <a:off x="6949440" y="14173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Indicative SETA discretionary grant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accessibility trend (illustrative)</a:t>
            </a:r>
            <a:endParaRPr lang="en-US" sz="12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6949440" y="2057400"/>
          <a:ext cx="438912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 11"/>
          <p:cNvSpPr/>
          <p:nvPr/>
        </p:nvSpPr>
        <p:spPr>
          <a:xfrm>
            <a:off x="6949440" y="50292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EB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Directional illustration, not a specific SETA's published figures</a:t>
            </a:r>
            <a:endParaRPr lang="en-US" sz="950" dirty="0"/>
          </a:p>
        </p:txBody>
      </p:sp>
      <p:sp>
        <p:nvSpPr>
          <p:cNvPr id="18" name="Text 12"/>
          <p:cNvSpPr/>
          <p:nvPr/>
        </p:nvSpPr>
        <p:spPr>
          <a:xfrm>
            <a:off x="6949440" y="54864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D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compulsory 1% SDL contribution keeps flowing every month — whether or not a grant is ever approved.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3200400"/>
            <a:ext cx="6400800" cy="6400800"/>
          </a:xfrm>
          <a:prstGeom prst="ellipse">
            <a:avLst/>
          </a:prstGeom>
          <a:solidFill>
            <a:srgbClr val="162A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REFRAME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isn’t a grant opportunity.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It’s a tax and retention strategy.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30632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D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SETA funding becomes the nice-to-have. The business case stands on its own — built on money your organisation already spends and tax you already owe.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4160520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162A4A"/>
          </a:solidFill>
          <a:ln w="12700">
            <a:solidFill>
              <a:srgbClr val="3A4E7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4500" y="438912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50292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12H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53949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 allowance per learner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29000" y="4160520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162A4A"/>
          </a:solidFill>
          <a:ln w="12700">
            <a:solidFill>
              <a:srgbClr val="3A4E7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980" y="438912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50292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ETI Absorption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566160" y="53949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PAYE relief for under-29 hires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26480" y="4160520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162A4A"/>
          </a:solidFill>
          <a:ln w="12700">
            <a:solidFill>
              <a:srgbClr val="3A4E7A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9460" y="438912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63640" y="50292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B-BBEE Scorecard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263640" y="53949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Dev &amp; EE points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8823960" y="4160520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162A4A"/>
          </a:solidFill>
          <a:ln w="12700">
            <a:solidFill>
              <a:srgbClr val="3A4E7A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6940" y="4389120"/>
            <a:ext cx="548640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961120" y="50292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TETA Pipeline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8961120" y="53949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Qualified staff, not agency hires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 1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12H: the Learnership Tax Allowance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direct income-tax deduction for every learner on a registered, SETA-aligned learnership — available for agreements entered into before 1 April 2027.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3832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F3864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10312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R40,000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2971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Allowance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learner, per year · NQF 1–6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069080" y="1965960"/>
            <a:ext cx="33832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F3864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069080" y="210312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R40,000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251960" y="2971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Completion Allowance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251960" y="3383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Once-off, year of completion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589520" y="1965960"/>
            <a:ext cx="33832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F3864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589520" y="210312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R80,000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7772400" y="2971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Value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772400" y="3383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learner over a 12-month learnership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420624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Covers Tiespro's Truck Driver, Bus Driver, Taxi Driver, Freight Handler and Transport Clerk qualifications (all NQF 1–6). Higher-NQF learnerships (7–10) qualify at R20,000/R20,000, or R50,000/R50,000 for learners with a disability.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5029200"/>
            <a:ext cx="10424160" cy="1234440"/>
          </a:xfrm>
          <a:prstGeom prst="roundRect">
            <a:avLst>
              <a:gd name="adj" fmla="val 5926"/>
            </a:avLst>
          </a:prstGeom>
          <a:solidFill>
            <a:srgbClr val="1F3864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349240"/>
            <a:ext cx="594360" cy="59436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600200" y="512064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linked to being an SDL payer or claiming a mandatory grant — it applies to any registered learnership forming part of your trade, regardless of SETA grant outcomes.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 2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Employment Tax Incentive: your youth absorption lever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monthly PAYE for every qualifying employee aged 18–29 — the exact profile of a learner completing a Tiespro learnership and moving into a permanent role.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383280" cy="1600200"/>
          </a:xfrm>
          <a:prstGeom prst="roundRect">
            <a:avLst>
              <a:gd name="adj" fmla="val 4571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27000" dist="38100" dir="5400000">
              <a:srgbClr val="1F3864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1945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Ages 18–29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Qualifying employee age band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60520" y="2057400"/>
            <a:ext cx="3383280" cy="1600200"/>
          </a:xfrm>
          <a:prstGeom prst="roundRect">
            <a:avLst>
              <a:gd name="adj" fmla="val 4571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27000" dist="38100" dir="5400000">
              <a:srgbClr val="1F3864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43400" y="21945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months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343400" y="27432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Maximum incentive period, per employee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0" y="2057400"/>
            <a:ext cx="3383280" cy="1600200"/>
          </a:xfrm>
          <a:prstGeom prst="roundRect">
            <a:avLst>
              <a:gd name="adj" fmla="val 4571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27000" dist="38100" dir="5400000">
              <a:srgbClr val="1F3864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955280" y="21945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28 Feb 2029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955280" y="27432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Incentive legislated to run until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plays out for a Tiespro learner: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4348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43484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Learnership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880360" y="4434840"/>
            <a:ext cx="411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291840" y="44348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443484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Absorbed into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permanent role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623560" y="4434840"/>
            <a:ext cx="411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035040" y="44348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443484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Employer claims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ETI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366760" y="4434840"/>
            <a:ext cx="411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8778240" y="44348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78240" y="443484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PAYE liability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57150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Qualifying remuneration threshold below R7,500/month (April 2025 rates). Exact monthly amount depends on the employee's remuneration band and hours — calculated employee-by-employee through payroll.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 3 OF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B-BBEE scorecard credit — protecting the tenders you already chase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417320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Development spend and learner absorption both carry scorecard weight under the transport sector code</a:t>
            </a:r>
            <a:endParaRPr lang="en-US" sz="13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14600"/>
            <a:ext cx="365760" cy="3657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1560" y="2468880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Absorption of learners into permanent roles attracts additional recognition under most sector codes</a:t>
            </a:r>
            <a:endParaRPr lang="en-US" sz="13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566160"/>
            <a:ext cx="365760" cy="3657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51560" y="3520440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Stronger scorecard → protected or improved standing on corporate and public-sector tenders</a:t>
            </a:r>
            <a:endParaRPr lang="en-US" sz="1350" dirty="0"/>
          </a:p>
        </p:txBody>
      </p:sp>
      <p:sp>
        <p:nvSpPr>
          <p:cNvPr id="10" name="Shape 5"/>
          <p:cNvSpPr/>
          <p:nvPr/>
        </p:nvSpPr>
        <p:spPr>
          <a:xfrm>
            <a:off x="548640" y="4709160"/>
            <a:ext cx="5760720" cy="1005840"/>
          </a:xfrm>
          <a:prstGeom prst="roundRect">
            <a:avLst>
              <a:gd name="adj" fmla="val 7273"/>
            </a:avLst>
          </a:prstGeom>
          <a:solidFill>
            <a:srgbClr val="FFF4DA"/>
          </a:solidFill>
          <a:ln/>
        </p:spPr>
      </p:sp>
      <p:sp>
        <p:nvSpPr>
          <p:cNvPr id="11" name="Text 6"/>
          <p:cNvSpPr/>
          <p:nvPr/>
        </p:nvSpPr>
        <p:spPr>
          <a:xfrm>
            <a:off x="777240" y="480060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point impact depends on your applicable sector code and your BEE verification agent — Tiespro supplies the learnership and absorption documentation; your agent confirms the scorecard uplift.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6675120" y="1417320"/>
            <a:ext cx="4937760" cy="4846320"/>
          </a:xfrm>
          <a:prstGeom prst="roundRect">
            <a:avLst>
              <a:gd name="adj" fmla="val 1509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27000" dist="38100" dir="5400000">
              <a:srgbClr val="1F3864">
                <a:alpha val="12000"/>
              </a:srgbClr>
            </a:outerShdw>
          </a:effectLst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0" y="1737360"/>
            <a:ext cx="822960" cy="8229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949440" y="269748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scorecard elements,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programme</a:t>
            </a:r>
            <a:endParaRPr lang="en-US" sz="1700" dirty="0"/>
          </a:p>
        </p:txBody>
      </p:sp>
      <p:sp>
        <p:nvSpPr>
          <p:cNvPr id="15" name="Shape 9"/>
          <p:cNvSpPr/>
          <p:nvPr/>
        </p:nvSpPr>
        <p:spPr>
          <a:xfrm>
            <a:off x="6949440" y="3520440"/>
            <a:ext cx="4389120" cy="1051560"/>
          </a:xfrm>
          <a:prstGeom prst="roundRect">
            <a:avLst>
              <a:gd name="adj" fmla="val 5217"/>
            </a:avLst>
          </a:prstGeom>
          <a:solidFill>
            <a:srgbClr val="162A4A"/>
          </a:solidFill>
          <a:ln/>
        </p:spPr>
      </p:sp>
      <p:sp>
        <p:nvSpPr>
          <p:cNvPr id="16" name="Text 10"/>
          <p:cNvSpPr/>
          <p:nvPr/>
        </p:nvSpPr>
        <p:spPr>
          <a:xfrm>
            <a:off x="7132320" y="3520440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Development — training spend against payroll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6949440" y="4754880"/>
            <a:ext cx="4389120" cy="1051560"/>
          </a:xfrm>
          <a:prstGeom prst="roundRect">
            <a:avLst>
              <a:gd name="adj" fmla="val 5217"/>
            </a:avLst>
          </a:prstGeom>
          <a:solidFill>
            <a:srgbClr val="162A4A"/>
          </a:solidFill>
          <a:ln/>
        </p:spPr>
      </p:sp>
      <p:sp>
        <p:nvSpPr>
          <p:cNvPr id="18" name="Text 12"/>
          <p:cNvSpPr/>
          <p:nvPr/>
        </p:nvSpPr>
        <p:spPr>
          <a:xfrm>
            <a:off x="7132320" y="4754880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Employment Equity — placing black youth in critical/scarce skills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three levers stack on the same learner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of the three requires a SETA discretionary grant to be approved. A grant, if it comes through, is upside on a case that already works without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246120" cy="356616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F3864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331720"/>
            <a:ext cx="502920" cy="50292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237744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30175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learnership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1520" y="356616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12H reduces taxable income while the learner trains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794760" y="3383280"/>
            <a:ext cx="365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4160520" y="2148840"/>
            <a:ext cx="3246120" cy="356616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F3864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43400" y="2331720"/>
            <a:ext cx="502920" cy="50292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4" name="Text 11"/>
          <p:cNvSpPr/>
          <p:nvPr/>
        </p:nvSpPr>
        <p:spPr>
          <a:xfrm>
            <a:off x="434340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2377440"/>
            <a:ext cx="502920" cy="5029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343400" y="30175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Absorb into a permanent role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343400" y="356616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ETI reduces PAYE for the qualifying under-29 hire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7406640" y="3383280"/>
            <a:ext cx="365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9" name="Shape 15"/>
          <p:cNvSpPr/>
          <p:nvPr/>
        </p:nvSpPr>
        <p:spPr>
          <a:xfrm>
            <a:off x="7772400" y="2148840"/>
            <a:ext cx="3246120" cy="356616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F3864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955280" y="2331720"/>
            <a:ext cx="502920" cy="50292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1" name="Text 17"/>
          <p:cNvSpPr/>
          <p:nvPr/>
        </p:nvSpPr>
        <p:spPr>
          <a:xfrm>
            <a:off x="795528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0" y="2377440"/>
            <a:ext cx="502920" cy="5029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955280" y="30175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the outcome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7955280" y="356616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B-BBEE scorecard credit for spend and absorption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example: a 20-learner cohort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12-month NQF 3–4 learnership, full cohort completes, 15 absorbed into permanent roles. Illustrative — to be recalculated against your own payroll and tax position.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74520"/>
          <a:ext cx="60350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903720" y="1874520"/>
            <a:ext cx="4754880" cy="1920240"/>
          </a:xfrm>
          <a:prstGeom prst="roundRect">
            <a:avLst>
              <a:gd name="adj" fmla="val 381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27000" dist="38100" dir="5400000">
              <a:srgbClr val="1F3864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132320" y="201168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R432,000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7132320" y="274320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Indicative tax saving in year one alone,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Section 12H deduction — before any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ETI or SDL mandatory grant reclaim.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903720" y="3977640"/>
            <a:ext cx="47548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0" y="411480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R882,000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7132320" y="470916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tax deduction value and indicative ETI relief in year one — before quantifying the B-BBEE scorecard benefit or any grant reclaim.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DELIVERY PARTNER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Tiespro: accreditation built for your workforce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TETA Accreditation 06-157 — 7 NQF-aligned qualifications, concentrated exactly where transport, freight and logistics turnover is highest.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4747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F3864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94560"/>
            <a:ext cx="502920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063240" y="2194560"/>
            <a:ext cx="731520" cy="365760"/>
          </a:xfrm>
          <a:prstGeom prst="roundRect">
            <a:avLst>
              <a:gd name="adj" fmla="val 50000"/>
            </a:avLst>
          </a:prstGeom>
          <a:solidFill>
            <a:srgbClr val="C9A84C"/>
          </a:solidFill>
          <a:ln/>
        </p:spPr>
      </p:sp>
      <p:sp>
        <p:nvSpPr>
          <p:cNvPr id="8" name="Text 5"/>
          <p:cNvSpPr/>
          <p:nvPr/>
        </p:nvSpPr>
        <p:spPr>
          <a:xfrm>
            <a:off x="3063240" y="21945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NQF 5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" y="28803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Clearing &amp; Forwarding Agent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343400" y="1965960"/>
            <a:ext cx="34747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F3864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194560"/>
            <a:ext cx="502920" cy="5029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858000" y="2194560"/>
            <a:ext cx="731520" cy="365760"/>
          </a:xfrm>
          <a:prstGeom prst="roundRect">
            <a:avLst>
              <a:gd name="adj" fmla="val 50000"/>
            </a:avLst>
          </a:prstGeom>
          <a:solidFill>
            <a:srgbClr val="C9A84C"/>
          </a:solidFill>
          <a:ln/>
        </p:spPr>
      </p:sp>
      <p:sp>
        <p:nvSpPr>
          <p:cNvPr id="13" name="Text 9"/>
          <p:cNvSpPr/>
          <p:nvPr/>
        </p:nvSpPr>
        <p:spPr>
          <a:xfrm>
            <a:off x="6858000" y="21945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NQF 5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572000" y="28803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 Practitioner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8138160" y="1965960"/>
            <a:ext cx="34747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F3864">
                <a:alpha val="1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2194560"/>
            <a:ext cx="502920" cy="50292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0652760" y="2194560"/>
            <a:ext cx="731520" cy="365760"/>
          </a:xfrm>
          <a:prstGeom prst="roundRect">
            <a:avLst>
              <a:gd name="adj" fmla="val 50000"/>
            </a:avLst>
          </a:prstGeom>
          <a:solidFill>
            <a:srgbClr val="C9A84C"/>
          </a:solidFill>
          <a:ln/>
        </p:spPr>
      </p:sp>
      <p:sp>
        <p:nvSpPr>
          <p:cNvPr id="18" name="Text 13"/>
          <p:cNvSpPr/>
          <p:nvPr/>
        </p:nvSpPr>
        <p:spPr>
          <a:xfrm>
            <a:off x="10652760" y="21945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NQF 4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8366760" y="28803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Clerk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548640" y="3977640"/>
            <a:ext cx="34747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F3864">
                <a:alpha val="12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206240"/>
            <a:ext cx="502920" cy="50292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3063240" y="4206240"/>
            <a:ext cx="731520" cy="365760"/>
          </a:xfrm>
          <a:prstGeom prst="roundRect">
            <a:avLst>
              <a:gd name="adj" fmla="val 50000"/>
            </a:avLst>
          </a:prstGeom>
          <a:solidFill>
            <a:srgbClr val="C9A84C"/>
          </a:solidFill>
          <a:ln/>
        </p:spPr>
      </p:sp>
      <p:sp>
        <p:nvSpPr>
          <p:cNvPr id="23" name="Text 17"/>
          <p:cNvSpPr/>
          <p:nvPr/>
        </p:nvSpPr>
        <p:spPr>
          <a:xfrm>
            <a:off x="3063240" y="42062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NQF 3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777240" y="48920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Freight Handler</a:t>
            </a:r>
            <a:endParaRPr lang="en-US" sz="1350" dirty="0"/>
          </a:p>
        </p:txBody>
      </p:sp>
      <p:sp>
        <p:nvSpPr>
          <p:cNvPr id="25" name="Shape 19"/>
          <p:cNvSpPr/>
          <p:nvPr/>
        </p:nvSpPr>
        <p:spPr>
          <a:xfrm>
            <a:off x="4343400" y="3977640"/>
            <a:ext cx="34747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F3864">
                <a:alpha val="12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4206240"/>
            <a:ext cx="502920" cy="502920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6858000" y="4206240"/>
            <a:ext cx="731520" cy="365760"/>
          </a:xfrm>
          <a:prstGeom prst="roundRect">
            <a:avLst>
              <a:gd name="adj" fmla="val 50000"/>
            </a:avLst>
          </a:prstGeom>
          <a:solidFill>
            <a:srgbClr val="C9A84C"/>
          </a:solidFill>
          <a:ln/>
        </p:spPr>
      </p:sp>
      <p:sp>
        <p:nvSpPr>
          <p:cNvPr id="28" name="Text 21"/>
          <p:cNvSpPr/>
          <p:nvPr/>
        </p:nvSpPr>
        <p:spPr>
          <a:xfrm>
            <a:off x="6858000" y="42062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NQF 3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4572000" y="48920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Truck Driver</a:t>
            </a:r>
            <a:endParaRPr lang="en-US" sz="1350" dirty="0"/>
          </a:p>
        </p:txBody>
      </p:sp>
      <p:sp>
        <p:nvSpPr>
          <p:cNvPr id="30" name="Shape 23"/>
          <p:cNvSpPr/>
          <p:nvPr/>
        </p:nvSpPr>
        <p:spPr>
          <a:xfrm>
            <a:off x="8138160" y="3977640"/>
            <a:ext cx="34747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F3864">
                <a:alpha val="12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6760" y="4206240"/>
            <a:ext cx="502920" cy="502920"/>
          </a:xfrm>
          <a:prstGeom prst="rect">
            <a:avLst/>
          </a:prstGeom>
        </p:spPr>
      </p:pic>
      <p:sp>
        <p:nvSpPr>
          <p:cNvPr id="32" name="Shape 24"/>
          <p:cNvSpPr/>
          <p:nvPr/>
        </p:nvSpPr>
        <p:spPr>
          <a:xfrm>
            <a:off x="10652760" y="4206240"/>
            <a:ext cx="731520" cy="365760"/>
          </a:xfrm>
          <a:prstGeom prst="roundRect">
            <a:avLst>
              <a:gd name="adj" fmla="val 50000"/>
            </a:avLst>
          </a:prstGeom>
          <a:solidFill>
            <a:srgbClr val="C9A84C"/>
          </a:solidFill>
          <a:ln/>
        </p:spPr>
      </p:sp>
      <p:sp>
        <p:nvSpPr>
          <p:cNvPr id="33" name="Text 25"/>
          <p:cNvSpPr/>
          <p:nvPr/>
        </p:nvSpPr>
        <p:spPr>
          <a:xfrm>
            <a:off x="10652760" y="42062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NQF 3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8366760" y="48920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 Driver / Taxi Driver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THIS IS FOR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ideal client profile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04241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F3864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481328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Registered for PAYE &amp; SDL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760720" y="1481328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Payroll large enough for a 1% levy and 27% corporate tax rate to matter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104241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F3864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88036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00200" y="2715768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turnover in driver, clerk, handler &amp; clearing roles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760720" y="2715768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Turnover is the pain point — tax saving is the accelerant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840480"/>
            <a:ext cx="104241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F3864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11480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00200" y="3950208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Profitable &amp; tax-paying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760720" y="3950208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12H only has value against taxable income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8640" y="5074920"/>
            <a:ext cx="104241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F3864">
                <a:alpha val="1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349240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00200" y="5184648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Tender or scorecard exposed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5760720" y="5184648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customers or public-sector contracts requiring B-BBEE standing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STARTED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simple, low-risk first step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14600" cy="3566160"/>
          </a:xfrm>
          <a:prstGeom prst="roundRect">
            <a:avLst>
              <a:gd name="adj" fmla="val 2909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27000" dist="38100" dir="5400000">
              <a:srgbClr val="1F3864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0116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call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337560"/>
            <a:ext cx="2148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minutes to map your current headcount in TETA-scope roles and turnover rate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828800"/>
            <a:ext cx="2514600" cy="3566160"/>
          </a:xfrm>
          <a:prstGeom prst="roundRect">
            <a:avLst>
              <a:gd name="adj" fmla="val 2909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27000" dist="38100" dir="5400000">
              <a:srgbClr val="1F3864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20116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429000" y="27889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Tailored illustration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29000" y="3337560"/>
            <a:ext cx="2148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one-page financial model using your own approximate numbers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0" y="1828800"/>
            <a:ext cx="2514600" cy="3566160"/>
          </a:xfrm>
          <a:prstGeom prst="roundRect">
            <a:avLst>
              <a:gd name="adj" fmla="val 2909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27000" dist="38100" dir="5400000">
              <a:srgbClr val="1F3864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20116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126480" y="27889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cohort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26480" y="3337560"/>
            <a:ext cx="2148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10–20 learners, with an absorption plan agreed upfront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641080" y="1828800"/>
            <a:ext cx="2514600" cy="3566160"/>
          </a:xfrm>
          <a:prstGeom prst="roundRect">
            <a:avLst>
              <a:gd name="adj" fmla="val 2909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27000" dist="38100" dir="5400000">
              <a:srgbClr val="1F3864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823960" y="20116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8823960" y="27889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823960" y="3337560"/>
            <a:ext cx="2148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9D9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the cohort and formalise a dedicated L&amp;D cost centre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566928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figure discussed is verified against your own payroll and tax position by a registered tax practitioner before it appears in a signed proposal.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162A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91440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2468880"/>
            <a:ext cx="9418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turn your training budget</a:t>
            </a:r>
            <a:endParaRPr lang="en-US" sz="3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into a tax strategy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371600" y="411480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Tiespro Training Institute  |  TETA Accreditation 06-157  |  A Praeto Group Holdings Entity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371600" y="466344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EB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your Tiespro relationship manager to schedule a 30-minute discovery call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Training as a Tax-Reduction &amp; Youth Employment Strategy</dc:title>
  <dc:subject>PptxGenJS Presentation</dc:subject>
  <dc:creator>Tiespro Training Institute</dc:creator>
  <cp:lastModifiedBy>Tiespro Training Institute</cp:lastModifiedBy>
  <cp:revision>1</cp:revision>
  <dcterms:created xsi:type="dcterms:W3CDTF">2026-07-01T14:19:28Z</dcterms:created>
  <dcterms:modified xsi:type="dcterms:W3CDTF">2026-07-01T14:19:28Z</dcterms:modified>
</cp:coreProperties>
</file>